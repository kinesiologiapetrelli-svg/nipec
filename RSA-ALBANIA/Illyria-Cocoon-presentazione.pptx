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Copertina. Due case, due mercati. Il punto: non è beneficenza, è un mercato dove le famiglie già pagano di tasca propria.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domanda non è un’ipotesi: è documentata. Il doppio del fabbisogno rispetto ai posti esistenti.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chiave del mercato. Il criterio non è la ricchezza del paese: è quanto paga la famiglia di tasca sua.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precedente vale metà del progetto: l’obiezione «ma è all’estero» in Germania è già caduta.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prodotti diversi, non due filiali. Uno lo compra l’anziano perché vuole, l’altro la figlia perché deve.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decide è l’anziano stesso, non i figli. Questo cambia tutto il modo di vendere.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Questo è il motivo per cui la Casa 1 si vende agli italiani e non ai tedeschi.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un socio ti chiede «dov’è il trucco», è qui: non c’è trucco, c’è una differenza di salari.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rischio più grave del progetto, e la risposta. Non nasconderlo: un socio che lo scopre dopo si insospettisce.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primo anno si perde: è previsto. Il punto è avere la benzina per arrivare al terzo.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Dirlo noi per primi vale più di dieci slide di ottimismo. Un socio serio lo apprezza.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 sta il ritorno vero. E c’è una scadenza che nessuno controlla: dicembre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messaggio: siamo prudenti per scelta, non per mancanza di ambizione.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rischi, tre risposte. Se non li dici tu, li trova lui — e a quel punto sono peggio.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DA COMPLETARE. Prima di mandarla: la cifra, la quota, e cosa si chiede al socio oltre al denaro.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Chiudere su cosa succede lunedì, non su una promessa.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mblema-chia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51560"/>
            <a:ext cx="960120" cy="9601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011680" y="11704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500" kern="0" dirty="0">
                <a:solidFill>
                  <a:srgbClr val="F2F6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ILLYRIA COCOON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2057400" y="1627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40" kern="0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RESIDENZE PER CHI STA BENE · ALBANIA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51460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2F6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residenze per anziani</a:t>
            </a:r>
            <a:endParaRPr lang="en-US" sz="46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2F6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europei in Albania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4348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BE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mercato dove le famiglie pagano </a:t>
            </a:r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2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migliaia di euro al mese di tasca propria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BE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paese a due ore di volo dove il lavoro costa un quinto, e una pensione che lì </a:t>
            </a:r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2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paga tasse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BE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F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per un socio · 14 settembre 2026 · riservata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L’Europa non ha posti, e chi ne trova uno paga da solo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244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496.000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 letto che servirebbero in Italia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493008" y="2697480"/>
            <a:ext cx="244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240.000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93008" y="352044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Quelli che ci sono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54496" y="2697480"/>
            <a:ext cx="244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242.570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254496" y="352044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Anziani oggi in lista d’attesa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015984" y="2697480"/>
            <a:ext cx="244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9015984" y="352044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in cui la pensione non copre la retta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800600"/>
            <a:ext cx="10725912" cy="10973"/>
          </a:xfrm>
          <a:prstGeom prst="rect">
            <a:avLst/>
          </a:prstGeom>
          <a:solidFill>
            <a:srgbClr val="CFDED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50749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pubblico si aspetta fino a tre anni. In Germania, entro il 2050, un cittadino su tre avrà più di 65 anni.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MERCATO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esce dalla tasca della famiglia, ogni mese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9572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Regno Unito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063240" y="2395728"/>
            <a:ext cx="6035040" cy="292608"/>
          </a:xfrm>
          <a:prstGeom prst="rect">
            <a:avLst/>
          </a:prstGeom>
          <a:solidFill>
            <a:srgbClr val="2B7E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244584" y="2386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7700 €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6265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Svizzera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63240" y="2962656"/>
            <a:ext cx="5643154" cy="292608"/>
          </a:xfrm>
          <a:prstGeom prst="rect">
            <a:avLst/>
          </a:prstGeom>
          <a:solidFill>
            <a:srgbClr val="2B7E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52698" y="29535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7200 €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295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Germania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063240" y="3529584"/>
            <a:ext cx="2636607" cy="292608"/>
          </a:xfrm>
          <a:prstGeom prst="rect">
            <a:avLst/>
          </a:prstGeom>
          <a:solidFill>
            <a:srgbClr val="2B7E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46151" y="35204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3364 €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9651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 · privato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063240" y="4096512"/>
            <a:ext cx="2351314" cy="292608"/>
          </a:xfrm>
          <a:prstGeom prst="rect">
            <a:avLst/>
          </a:prstGeom>
          <a:solidFill>
            <a:srgbClr val="2B7E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60858" y="40873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3000 €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6634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Nordici · Olanda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063240" y="4663440"/>
            <a:ext cx="64008" cy="292608"/>
          </a:xfrm>
          <a:prstGeom prst="rect">
            <a:avLst/>
          </a:prstGeom>
          <a:solidFill>
            <a:srgbClr val="C3D4D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273552" y="46542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0 €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23036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063240" y="5184648"/>
            <a:ext cx="1567543" cy="365760"/>
          </a:xfrm>
          <a:prstGeom prst="rect">
            <a:avLst/>
          </a:prstGeom>
          <a:solidFill>
            <a:srgbClr val="0B4A5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77087" y="52212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2.000 €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4681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paga oltre il 90%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5806440"/>
            <a:ext cx="10725912" cy="10973"/>
          </a:xfrm>
          <a:prstGeom prst="rect">
            <a:avLst/>
          </a:prstGeom>
          <a:solidFill>
            <a:srgbClr val="CFDED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603504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mercato sta dove lo Stato non paga. Nordici e Olanda si lasciano perdere, per quanto siano ricchi: una famiglia che non paga niente non attraversa l’Europa.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4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PRECEDENTE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1050" dirty="0"/>
          </a:p>
        </p:txBody>
      </p:sp>
      <p:pic>
        <p:nvPicPr>
          <p:cNvPr id="4" name="Image 0" descr="emblema-so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8686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23444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2F6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è un’idea nuova.</a:t>
            </a:r>
            <a:endParaRPr lang="en-US" sz="30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3000" b="1" dirty="0">
                <a:solidFill>
                  <a:srgbClr val="F2F6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tedeschi mandano i genitori in casa di riposo in Polonia da vent’anni.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520440"/>
            <a:ext cx="5202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1.000 €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343400"/>
            <a:ext cx="5202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E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costa al mese una casa di riposo per tedeschi in Polonia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54496" y="3520440"/>
            <a:ext cx="5202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6254496" y="4343400"/>
            <a:ext cx="5202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E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Tedeschi stabili solo a Maiorca, con medici e residenze tedesche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" y="5166360"/>
            <a:ext cx="10725912" cy="10973"/>
          </a:xfrm>
          <a:prstGeom prst="rect">
            <a:avLst/>
          </a:prstGeom>
          <a:solidFill>
            <a:srgbClr val="1E657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544068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CBE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Vuol dire che non dobbiamo convincere nessuno che si possa fare. Dobbiamo solo essere il posto migliore dove farlo.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L’IDEA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case, per due mercati che non sono lo stesso mercato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5120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6243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1 · IL COCOON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9535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Golem, sul mare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3832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Pensionati italiani che stanno bene e vogliono godersi la pensione. La comprano perché VOGLIONO.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1148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41148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3708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43708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1.800 – 2.500 €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6268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46268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2,25 M€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882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48828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– 15 mesi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36792" y="2331720"/>
            <a:ext cx="5120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02552" y="26243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2 · LA CURA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702552" y="29535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Tirana, terreno nostro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702552" y="33832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Famiglie tedesche, svizzere, austriache con un genitore non più autosufficiente. La comprano perché DEVONO.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41148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57032" y="41148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02552" y="437083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57032" y="43708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2.500 – 3.200 €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02552" y="46268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57032" y="462686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9,5 M€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02552" y="4882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57032" y="488289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– 48 mesi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4864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è ospitalità e si apre presto. La seconda è sanità, vale di più e vuole tempo. La prima paga la prova; la seconda paga il progetto.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cliente della Casa 1 non è un malato. È uno che si annoia.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323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68–78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37744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 bene, guida ancora, ha voglia di fare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779776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Spesso è rimasto solo. Vive in un appartamento troppo grande e troppo caro da scaldare.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4845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3593592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Privata, fra 1.500 e 3.000 € al mese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3995928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vuole essere assistito: vuole essere in compagnia, e servito.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646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4809744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«E mi resta in tasca più di prima»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5212080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la mia stanza, mangio bene senza cucinare, qualcuno pulisce, la mattina la ginnastica e il pomeriggio le carte, il mare è lì, e mia figlia dorme nella stanza degli ospiti.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4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VANTAGGIO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L’ARGOMENTO CHE NESSUN CONCORRENTE HA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F2F6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12000" dirty="0"/>
          </a:p>
        </p:txBody>
      </p:sp>
      <p:pic>
        <p:nvPicPr>
          <p:cNvPr id="6" name="Image 0" descr="emblema-so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73736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7033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BE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Albania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2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pensione privata estera non paga tasse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BE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 chi ci sposta la residenza fiscale. E i pensionati italiani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2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stanno già andando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BE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31520" y="4892040"/>
            <a:ext cx="10725912" cy="10973"/>
          </a:xfrm>
          <a:prstGeom prst="rect">
            <a:avLst/>
          </a:prstGeom>
          <a:solidFill>
            <a:srgbClr val="1E657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51206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CBE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uno sconto che facciamo noi: è un diritto del cliente. Noi siamo il posto dove può esercitarlo senza doversi arrangiare da solo con casa, spesa e burocrazia.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CBE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 pensioni private: le pubbliche italiane restano tassate in Italia. Serve AIRE e residenza effettiva.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VANTAGGIO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margine nasce da una riga sola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5202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5202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pesa il personale in una RSA italiana o tedesca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54496" y="2377440"/>
            <a:ext cx="5202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254496" y="3200400"/>
            <a:ext cx="5202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pesa da noi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10725912" cy="10973"/>
          </a:xfrm>
          <a:prstGeom prst="rect">
            <a:avLst/>
          </a:prstGeom>
          <a:solidFill>
            <a:srgbClr val="CFDED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4805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Stipendio medio albanese nel settore salute: 435 € al mese. Noi paghiamo 600–2.200 € — da una volta e mezza a cinque volte il mercato locale.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2578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è un servizio peggiore: è la differenza di salari fra due paesi a due ore di volo. Ed è una finestra, non una rendita: se i salari albanesi salgono verso quelli europei si chiude. Il piano deve rientrare dentro quella finestra.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PERSONE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RISCHIO NUMERO UNO, E COME SI RIBALTA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23444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L’Albania gli infermieri non ce li ha: li esporta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marzo 2025 la Regione Piemonte è andata in Albania a reclutare infermieri per l’Italia. Apriremmo contendendo personale agli stessi paesi da cui arrivano i nostri clienti.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3429000"/>
            <a:ext cx="10725912" cy="1371600"/>
          </a:xfrm>
          <a:prstGeom prst="rect">
            <a:avLst/>
          </a:prstGeom>
          <a:solidFill>
            <a:srgbClr val="E4EF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611880"/>
            <a:ext cx="9902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0B4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un’infermiera albanese che oggi lavora a Stoccarda parla già tedesco, conosce già gli standard europei, e i genitori li vede due volte l’anno.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749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Siamo l’unico datore di lavoro che può offrirle di tornare a casa senza tornare povera. Una casa di riposo tedesca in Polonia, ai suoi polacchi, questo non può dirlo.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NUMERI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1 · i conti, tre anni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6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6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2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6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386584"/>
            <a:ext cx="10725912" cy="10973"/>
          </a:xfrm>
          <a:prstGeom prst="rect">
            <a:avLst/>
          </a:prstGeom>
          <a:solidFill>
            <a:srgbClr val="DCE7E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4963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Occupazione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4963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963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24963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862072"/>
            <a:ext cx="10725912" cy="10973"/>
          </a:xfrm>
          <a:prstGeom prst="rect">
            <a:avLst/>
          </a:prstGeom>
          <a:solidFill>
            <a:srgbClr val="DCE7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9718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29718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344.000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9718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575.000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9718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679.000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337560"/>
            <a:ext cx="10725912" cy="10973"/>
          </a:xfrm>
          <a:prstGeom prst="rect">
            <a:avLst/>
          </a:prstGeom>
          <a:solidFill>
            <a:srgbClr val="DCE7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447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34472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480.000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4472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510.000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34472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530.000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3813048"/>
            <a:ext cx="10725912" cy="10973"/>
          </a:xfrm>
          <a:prstGeom prst="rect">
            <a:avLst/>
          </a:prstGeom>
          <a:solidFill>
            <a:srgbClr val="8FA9A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39227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39227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A3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− 136.000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9227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C65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+ 65.000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392277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C65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+ 149.000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343400"/>
            <a:ext cx="5202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166360"/>
            <a:ext cx="5202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L’occupazione di pareggio — 22 ospiti su 30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254496" y="4343400"/>
            <a:ext cx="5202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250.000 €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6254496" y="5166360"/>
            <a:ext cx="5202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capitale circolante: la benzina per arrivare al terzo anno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9893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 costruiti su costi albanesi reali ma non su preventivi: vanno sostituiti nei prossimi trenta giorni.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4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ONESTÀ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2F6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Casa 1 non è un investimento che paga.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2F6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È il prezzo della prova.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0725912" cy="10973"/>
          </a:xfrm>
          <a:prstGeom prst="rect">
            <a:avLst/>
          </a:prstGeom>
          <a:solidFill>
            <a:srgbClr val="1E65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47472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CBE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149.000 € l’anno su 2,25 milioni fanno il 6,6%. Su trenta posti i costi fissi — direttore, cucina, lavanderia, licenze — sono quasi gli stessi che su centoventi.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3434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CBE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 comprare quattro risposte che nessuno studio può dare: quanto costa davvero un posto letto, se il personale si trova, quanto ci mette un cliente a dire di sì, e se l’autorizzazione arriva.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80" kern="0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soldi sono nella Casa 2. E la Casa 2 non si costruisce senza quelle quattro risposte.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NUMERI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2 · dove sta il ritorno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244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3,76 M€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 a regime — 120 posti, 90% pieno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493008" y="2286000"/>
            <a:ext cx="244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 M€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93008" y="310896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operativo · margine 46%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54496" y="2286000"/>
            <a:ext cx="244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18%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254496" y="310896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Ritorno annuo sui 9,5 M€ investiti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015984" y="2286000"/>
            <a:ext cx="2441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anni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015984" y="310896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Rientro dall’inizio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10725912" cy="10973"/>
          </a:xfrm>
          <a:prstGeom prst="rect">
            <a:avLst/>
          </a:prstGeom>
          <a:solidFill>
            <a:srgbClr val="CFDED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4348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c’è una soglia che ci viene incontro. La legge albanese sugli investimenti strategici dà incentivi fiscali e procedure amministrative accelerate sopra i 5 milioni e gli 80 posti di lavoro. La Casa 2 ne fa 9,5 e ne crea 78: ci cade dentro perfetta.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57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legge scade a dicembre 2026: la telefonata ad AIDA è una delle tre cose urgenti.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piano, in tre tempi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942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GIORNI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19456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carte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596896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Avvocato (titolo del terreno, autorizzazioni), commercialista (AIDA, società, fisco, costo vero del lavoro), medico (convenzione ospedaliera) — e dieci telefonate a dieci pensionati veri.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6557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MESI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3410712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prova — Casa 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3813048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posti in una struttura che esiste già, sulla costa. Numeri veri, un metodo di vendita provato, e le prime famiglie che raccontano.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6817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24–36 MESI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4626864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progetto — Casa 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5029200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posti costruiti sul terreno di Tirana, con lo status di investitore strategico.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5806440"/>
            <a:ext cx="10725912" cy="10973"/>
          </a:xfrm>
          <a:prstGeom prst="rect">
            <a:avLst/>
          </a:prstGeom>
          <a:solidFill>
            <a:srgbClr val="CFDED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60350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costruisce prima di conoscere il costo vero di un posto letto sta scommettendo dieci milioni su un’ipotesi. Chi lo sa, va in banca con dei numeri.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RISCHI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tre rischi, detti in faccia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037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14884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riempie più piano del previsto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551176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 progetti non muoiono per il mercato: muoiono al terzo anno, con i soldi finiti. Per questo ci sono 250.000 € di circolante nel piano, e si vendono soggiorni brevi per fare cassa subito.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1985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3364992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si trova il personale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3767328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questo si recluta fra gli emigrati albanesi di ritorno, e gli stipendi 2–3 volte il locale sono già a bilancio.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63600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4581144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incidente, e un giornale che ci fa l’inchiesta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4983480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come probabilità, letale come effetto. Per questo: convenzione con l’ospedale accreditato JCI, protocolli scritti, assicurazione e trasparenza totale con le famiglie.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5760720"/>
            <a:ext cx="10725912" cy="10973"/>
          </a:xfrm>
          <a:prstGeom prst="rect">
            <a:avLst/>
          </a:prstGeom>
          <a:solidFill>
            <a:srgbClr val="CFDED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598932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una cosa che non è un rischio ma un dato: nessun ente pubblico pagherà per noi, né l’ASL italiana né le casse tedesche. Si nasce privati al 100%.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4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 PUNTO SIAMO, E COSA SERVE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207008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2F6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Quello che c’è già, e quello che manca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5120640" cy="2514600"/>
          </a:xfrm>
          <a:prstGeom prst="rect">
            <a:avLst/>
          </a:prstGeom>
          <a:solidFill>
            <a:srgbClr val="0B4A54"/>
          </a:solidFill>
          <a:ln w="12700">
            <a:solidFill>
              <a:srgbClr val="2E7C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5420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C’È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300" dirty="0">
                <a:solidFill>
                  <a:srgbClr val="E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terreno a Tirana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355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300" dirty="0">
                <a:solidFill>
                  <a:srgbClr val="E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socio, un avvocato e un medico sul posto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7398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300" dirty="0">
                <a:solidFill>
                  <a:srgbClr val="E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milioni fra capitale proprio e soci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1239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300" dirty="0">
                <a:solidFill>
                  <a:srgbClr val="E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potenziale a fondi statali albanesi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507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300" dirty="0">
                <a:solidFill>
                  <a:srgbClr val="E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piano, i conti e il marchio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36792" y="2286000"/>
            <a:ext cx="5120640" cy="2514600"/>
          </a:xfrm>
          <a:prstGeom prst="rect">
            <a:avLst/>
          </a:prstGeom>
          <a:solidFill>
            <a:srgbClr val="0B4A54"/>
          </a:solidFill>
          <a:ln w="12700">
            <a:solidFill>
              <a:srgbClr val="2E7C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02552" y="25420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5C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02552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300" dirty="0">
                <a:solidFill>
                  <a:srgbClr val="E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costo vero di un posto letto, con preventivi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702552" y="3355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300" dirty="0">
                <a:solidFill>
                  <a:srgbClr val="E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L’autorizzazione, o la strada scritta per averla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02552" y="37398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300" dirty="0">
                <a:solidFill>
                  <a:srgbClr val="E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domanda dimostrata: prenotazioni firmate con caparra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02552" y="41239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–"/>
            </a:pPr>
            <a:r>
              <a:rPr lang="en-US" sz="1300" dirty="0">
                <a:solidFill>
                  <a:srgbClr val="E4E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struttura da comprare o affittare a Golem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166360"/>
            <a:ext cx="10725912" cy="960120"/>
          </a:xfrm>
          <a:prstGeom prst="rect">
            <a:avLst/>
          </a:prstGeom>
          <a:solidFill>
            <a:srgbClr val="0F5A66"/>
          </a:solidFill>
          <a:ln w="12700">
            <a:solidFill>
              <a:srgbClr val="95C3C4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097280" y="539496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C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 COMPLETARE PRIMA DI MANDARLA ]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2F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cerchiamo, per quale quota, e cosa chiediamo al socio oltre ai soldi — contatti, presenza sul posto, competenza.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01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B4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QUI SI PARTE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9628632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80" kern="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5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prime tre cose, e una data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942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19456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Telefonare ad AIDA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596896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incentivi e le procedure accelerate sopra i 5 milioni. La legge scade a dicembre 2026.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6557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3410712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Verificare il titolo del terreno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3813048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Albania è la trappola classica. Costa poco e blocca tutto il resto.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6817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2B7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4626864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dieci telefonate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5029200"/>
            <a:ext cx="9491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E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 pensionati italiani veri, cinque domande a testa. Costano zero e dicono più di questa presentazione.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5715000"/>
            <a:ext cx="10725912" cy="10973"/>
          </a:xfrm>
          <a:prstGeom prst="rect">
            <a:avLst/>
          </a:prstGeom>
          <a:solidFill>
            <a:srgbClr val="CFDEDF"/>
          </a:solidFill>
          <a:ln/>
        </p:spPr>
      </p:sp>
      <p:pic>
        <p:nvPicPr>
          <p:cNvPr id="15" name="Image 0" descr="emblema-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943600"/>
            <a:ext cx="566928" cy="56692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81328" y="6035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40" kern="0" dirty="0">
                <a:solidFill>
                  <a:srgbClr val="0B4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ILLYRIA COCOON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60899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numeri, gli scenari e le fonti stanno nel business plan completo.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Illyria Cocoon — presentazione per un socio</dc:title>
  <dc:subject>PptxGenJS Presentation</dc:subject>
  <dc:creator>Illyria Cocoon</dc:creator>
  <cp:lastModifiedBy>Illyria Cocoon</cp:lastModifiedBy>
  <cp:revision>1</cp:revision>
  <dcterms:created xsi:type="dcterms:W3CDTF">2026-09-14T10:00:41Z</dcterms:created>
  <dcterms:modified xsi:type="dcterms:W3CDTF">2026-09-14T10:00:41Z</dcterms:modified>
</cp:coreProperties>
</file>